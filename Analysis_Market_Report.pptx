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2E6BC-246F-7CC1-F18A-A9687DBF4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469987"/>
            <a:ext cx="8991600" cy="1959013"/>
          </a:xfrm>
        </p:spPr>
        <p:txBody>
          <a:bodyPr>
            <a:normAutofit/>
          </a:bodyPr>
          <a:lstStyle/>
          <a:p>
            <a:r>
              <a:rPr lang="en-US" sz="4000" b="1" dirty="0"/>
              <a:t>Global Sports Footwear Market (2018–2026)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7DAA3-FE43-64F9-B83B-A97CD94FE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1846" y="3744797"/>
            <a:ext cx="7608303" cy="511404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Data-Driven Insights for Pricing, Channels &amp; Growth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42F1D2-79F3-B601-4819-F842F9564FDF}"/>
              </a:ext>
            </a:extLst>
          </p:cNvPr>
          <p:cNvSpPr txBox="1"/>
          <p:nvPr/>
        </p:nvSpPr>
        <p:spPr>
          <a:xfrm>
            <a:off x="5114039" y="4571999"/>
            <a:ext cx="1963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Team name: </a:t>
            </a:r>
            <a:r>
              <a:rPr lang="en-IN" b="1" dirty="0"/>
              <a:t>TheD</a:t>
            </a:r>
          </a:p>
        </p:txBody>
      </p:sp>
    </p:spTree>
    <p:extLst>
      <p:ext uri="{BB962C8B-B14F-4D97-AF65-F5344CB8AC3E}">
        <p14:creationId xmlns:p14="http://schemas.microsoft.com/office/powerpoint/2010/main" val="3210610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0E887-E632-851B-1D64-6530A932D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000" y="116007"/>
            <a:ext cx="9180000" cy="432000"/>
          </a:xfrm>
        </p:spPr>
        <p:txBody>
          <a:bodyPr>
            <a:noAutofit/>
          </a:bodyPr>
          <a:lstStyle/>
          <a:p>
            <a:r>
              <a:rPr lang="en-IN" sz="2400" b="1" dirty="0"/>
              <a:t>Problem Framing &amp; Strategic Mandate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E18D-A94E-E25E-6D13-54542E9B9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511" y="966229"/>
            <a:ext cx="5996580" cy="1302167"/>
          </a:xfrm>
        </p:spPr>
        <p:txBody>
          <a:bodyPr>
            <a:normAutofit/>
          </a:bodyPr>
          <a:lstStyle/>
          <a:p>
            <a:pPr marL="0" indent="0">
              <a:buClr>
                <a:schemeClr val="bg1"/>
              </a:buClr>
              <a:buNone/>
            </a:pPr>
            <a:r>
              <a:rPr lang="en-US" sz="1200" dirty="0"/>
              <a:t>Between 2018–2026, the global sports footwear market grew steadily due to: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dirty="0"/>
              <a:t>Lifestyle shifts &amp; fitness awareness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dirty="0"/>
              <a:t>E-commerce expansion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dirty="0"/>
              <a:t>Category diversification (Running, Lifestyle, Training, etc.)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63B931E-3023-6C5F-5E3E-179D7DE15460}"/>
              </a:ext>
            </a:extLst>
          </p:cNvPr>
          <p:cNvSpPr txBox="1">
            <a:spLocks/>
          </p:cNvSpPr>
          <p:nvPr/>
        </p:nvSpPr>
        <p:spPr>
          <a:xfrm>
            <a:off x="366511" y="621850"/>
            <a:ext cx="3312000" cy="322369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dirty="0"/>
              <a:t>Industry Context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77F906D-A22E-6800-6C82-3AEE9A6BFA00}"/>
              </a:ext>
            </a:extLst>
          </p:cNvPr>
          <p:cNvSpPr txBox="1">
            <a:spLocks/>
          </p:cNvSpPr>
          <p:nvPr/>
        </p:nvSpPr>
        <p:spPr>
          <a:xfrm>
            <a:off x="6363091" y="966228"/>
            <a:ext cx="5377553" cy="1302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However, increasing reliance on discounts (0–30%) has created: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Margin pressure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Brand dilution risk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Inconsistent geographic performance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0860456-9FBB-4215-1E64-6AFE5C8C3F4F}"/>
              </a:ext>
            </a:extLst>
          </p:cNvPr>
          <p:cNvSpPr txBox="1">
            <a:spLocks/>
          </p:cNvSpPr>
          <p:nvPr/>
        </p:nvSpPr>
        <p:spPr>
          <a:xfrm>
            <a:off x="366510" y="2268395"/>
            <a:ext cx="6048000" cy="32400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CEO Mandate (2026–2029 Planning Cycle)</a:t>
            </a:r>
            <a:endParaRPr lang="en-IN" sz="1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515B10-199E-11E9-AF24-BDD19DC14A33}"/>
              </a:ext>
            </a:extLst>
          </p:cNvPr>
          <p:cNvCxnSpPr>
            <a:cxnSpLocks/>
          </p:cNvCxnSpPr>
          <p:nvPr/>
        </p:nvCxnSpPr>
        <p:spPr>
          <a:xfrm>
            <a:off x="5895954" y="1059245"/>
            <a:ext cx="0" cy="90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7697A8D-FC5F-AEA6-B396-E55996DB4E72}"/>
              </a:ext>
            </a:extLst>
          </p:cNvPr>
          <p:cNvSpPr txBox="1">
            <a:spLocks/>
          </p:cNvSpPr>
          <p:nvPr/>
        </p:nvSpPr>
        <p:spPr>
          <a:xfrm>
            <a:off x="366512" y="2592395"/>
            <a:ext cx="7296558" cy="1302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Provide a data-backed strategy to optimize: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Pricing &amp; discount discipline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Online vs Retail channel investments</a:t>
            </a:r>
          </a:p>
          <a:p>
            <a:pPr marL="0" indent="0">
              <a:buNone/>
            </a:pPr>
            <a:r>
              <a:rPr lang="en-US" sz="1200" dirty="0"/>
              <a:t>Objective: Drive sustainable growth without sacrificing profitability or customer satisfaction.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0A40526-7A8C-3D5B-197C-B38ECEAC40E7}"/>
              </a:ext>
            </a:extLst>
          </p:cNvPr>
          <p:cNvSpPr txBox="1">
            <a:spLocks/>
          </p:cNvSpPr>
          <p:nvPr/>
        </p:nvSpPr>
        <p:spPr>
          <a:xfrm>
            <a:off x="6296049" y="2987676"/>
            <a:ext cx="5377553" cy="5828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Geographic prioritization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Brand &amp; category focus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CFAD07-C3D6-6F54-1156-327F6AA8B511}"/>
              </a:ext>
            </a:extLst>
          </p:cNvPr>
          <p:cNvCxnSpPr>
            <a:cxnSpLocks/>
          </p:cNvCxnSpPr>
          <p:nvPr/>
        </p:nvCxnSpPr>
        <p:spPr>
          <a:xfrm>
            <a:off x="5881440" y="2914214"/>
            <a:ext cx="0" cy="54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CFA9B725-96AE-D947-6632-5EEECF54B152}"/>
              </a:ext>
            </a:extLst>
          </p:cNvPr>
          <p:cNvSpPr txBox="1">
            <a:spLocks/>
          </p:cNvSpPr>
          <p:nvPr/>
        </p:nvSpPr>
        <p:spPr>
          <a:xfrm>
            <a:off x="1506000" y="3808395"/>
            <a:ext cx="9180000" cy="36000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/>
              <a:t>Analytical Methodology &amp; Scope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8C925C0-6067-716D-EBE7-E621F1152637}"/>
              </a:ext>
            </a:extLst>
          </p:cNvPr>
          <p:cNvSpPr txBox="1">
            <a:spLocks/>
          </p:cNvSpPr>
          <p:nvPr/>
        </p:nvSpPr>
        <p:spPr>
          <a:xfrm>
            <a:off x="366510" y="4261742"/>
            <a:ext cx="4644000" cy="32400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dirty="0"/>
              <a:t>Dataset Overview (2018–2026)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6890502-D402-ADB5-454F-A63FC3111BAA}"/>
              </a:ext>
            </a:extLst>
          </p:cNvPr>
          <p:cNvSpPr txBox="1">
            <a:spLocks/>
          </p:cNvSpPr>
          <p:nvPr/>
        </p:nvSpPr>
        <p:spPr>
          <a:xfrm>
            <a:off x="366510" y="4585742"/>
            <a:ext cx="4644000" cy="2143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Transaction-level analysis including: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dirty="0"/>
              <a:t>Base Price, Discount %, Final Price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dirty="0"/>
              <a:t>Units Sold &amp; Revenue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dirty="0"/>
              <a:t>Sales Channel (Online / Retail) 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dirty="0"/>
              <a:t>Country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dirty="0"/>
              <a:t>Income Segment (Low / Middle / High) 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dirty="0"/>
              <a:t>Customer Satisfaction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B6B1A8C-B86E-EEAD-C5C8-C4A3F77A2D13}"/>
              </a:ext>
            </a:extLst>
          </p:cNvPr>
          <p:cNvSpPr txBox="1">
            <a:spLocks/>
          </p:cNvSpPr>
          <p:nvPr/>
        </p:nvSpPr>
        <p:spPr>
          <a:xfrm>
            <a:off x="5086350" y="5345829"/>
            <a:ext cx="5377553" cy="1201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endParaRPr lang="en-US" sz="160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CAF55B2-8E44-2DB4-65A4-C0F353390057}"/>
              </a:ext>
            </a:extLst>
          </p:cNvPr>
          <p:cNvSpPr txBox="1">
            <a:spLocks/>
          </p:cNvSpPr>
          <p:nvPr/>
        </p:nvSpPr>
        <p:spPr>
          <a:xfrm>
            <a:off x="5605937" y="4261742"/>
            <a:ext cx="4320000" cy="32400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dirty="0"/>
              <a:t>Analytical Approach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C0D978A-48A0-1446-2411-62DB4C6D1EB2}"/>
              </a:ext>
            </a:extLst>
          </p:cNvPr>
          <p:cNvSpPr txBox="1">
            <a:spLocks/>
          </p:cNvSpPr>
          <p:nvPr/>
        </p:nvSpPr>
        <p:spPr>
          <a:xfrm>
            <a:off x="5605937" y="4584731"/>
            <a:ext cx="3538063" cy="2091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I have performed: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Brand revenue &amp; unit contribution analysis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Pricing power calculation (Revenue per discount intensity) 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Discount band elasticity analysis (0–10%, 11–20%, 21–30%)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Channel AOV &amp; discount dependency comparison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0692F13-D031-1A8C-2973-AC91A91C0E2B}"/>
              </a:ext>
            </a:extLst>
          </p:cNvPr>
          <p:cNvSpPr txBox="1">
            <a:spLocks/>
          </p:cNvSpPr>
          <p:nvPr/>
        </p:nvSpPr>
        <p:spPr>
          <a:xfrm>
            <a:off x="10846894" y="5458341"/>
            <a:ext cx="4719839" cy="1201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endParaRPr lang="en-US" sz="12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6BEF0C3-3AF9-745C-947D-9ABF2D0BE689}"/>
              </a:ext>
            </a:extLst>
          </p:cNvPr>
          <p:cNvCxnSpPr>
            <a:cxnSpLocks/>
          </p:cNvCxnSpPr>
          <p:nvPr/>
        </p:nvCxnSpPr>
        <p:spPr>
          <a:xfrm>
            <a:off x="5292980" y="4584732"/>
            <a:ext cx="0" cy="2124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034A4B7-E84D-E071-7458-83C9B3BB9B9B}"/>
              </a:ext>
            </a:extLst>
          </p:cNvPr>
          <p:cNvSpPr txBox="1">
            <a:spLocks/>
          </p:cNvSpPr>
          <p:nvPr/>
        </p:nvSpPr>
        <p:spPr>
          <a:xfrm>
            <a:off x="9051867" y="4899991"/>
            <a:ext cx="2773623" cy="1646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Geographic attractiveness evaluation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Income-based price realization analysis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Category growth trend assessment (2018–2026)</a:t>
            </a:r>
          </a:p>
        </p:txBody>
      </p:sp>
    </p:spTree>
    <p:extLst>
      <p:ext uri="{BB962C8B-B14F-4D97-AF65-F5344CB8AC3E}">
        <p14:creationId xmlns:p14="http://schemas.microsoft.com/office/powerpoint/2010/main" val="2348831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34FEF-561A-80F4-4915-1FA3CEC2F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F5C9-43B3-B27B-9FFE-C865E6410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14" y="182267"/>
            <a:ext cx="8458169" cy="432000"/>
          </a:xfrm>
        </p:spPr>
        <p:txBody>
          <a:bodyPr>
            <a:noAutofit/>
          </a:bodyPr>
          <a:lstStyle/>
          <a:p>
            <a:r>
              <a:rPr lang="en-IN" sz="2400" b="1" dirty="0"/>
              <a:t>Analytical Dashboard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4FACCB9-149C-9CF0-D71B-36CF4895F3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98" y="732019"/>
            <a:ext cx="11880000" cy="5943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4684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D94F0-A822-DBD2-0C2E-FD4121491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83F9F-9EC9-848C-8D04-D1C0B6FDC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000" y="235275"/>
            <a:ext cx="9180000" cy="432000"/>
          </a:xfrm>
        </p:spPr>
        <p:txBody>
          <a:bodyPr>
            <a:noAutofit/>
          </a:bodyPr>
          <a:lstStyle/>
          <a:p>
            <a:r>
              <a:rPr lang="en-US" sz="2400" b="1" dirty="0"/>
              <a:t>Core Insights Across Decision Areas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1CC4D-8AE7-6AB3-366F-185CF7E2E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502" y="667276"/>
            <a:ext cx="5377554" cy="6125706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tx1"/>
                </a:solidFill>
              </a:rPr>
              <a:t>Brand Performance &amp; Pricing Power</a:t>
            </a:r>
          </a:p>
          <a:p>
            <a:pPr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ASICS leads in total revenue</a:t>
            </a:r>
            <a:endParaRPr lang="en-US" sz="1400" b="1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Nike demonstrates strongest pricing power</a:t>
            </a:r>
          </a:p>
          <a:p>
            <a:pPr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Revenue leadership ≠ discount intensity</a:t>
            </a:r>
          </a:p>
          <a:p>
            <a:pPr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Some brands rely heavily on promotions for volume</a:t>
            </a:r>
          </a:p>
          <a:p>
            <a:pPr marL="0" indent="0">
              <a:lnSpc>
                <a:spcPct val="110000"/>
              </a:lnSpc>
              <a:spcBef>
                <a:spcPts val="500"/>
              </a:spcBef>
              <a:buNone/>
            </a:pPr>
            <a:r>
              <a:rPr lang="en-US" sz="1400" i="1" dirty="0"/>
              <a:t>Insight: Pricing strength, not discounting, drives sustainable advantage.</a:t>
            </a:r>
            <a:endParaRPr lang="en-US" sz="1400" b="1" i="1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400" b="1" dirty="0"/>
              <a:t>Discount Strategy Effectiveness</a:t>
            </a:r>
          </a:p>
          <a:p>
            <a:pPr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10–20% band delivers optimal revenue-volume balance</a:t>
            </a:r>
          </a:p>
          <a:p>
            <a:pPr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20–30% discounts show diminishing marginal returns</a:t>
            </a:r>
          </a:p>
          <a:p>
            <a:pPr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Higher discounts do not significantly improve satisfaction</a:t>
            </a:r>
          </a:p>
          <a:p>
            <a:pPr marL="0" indent="0">
              <a:lnSpc>
                <a:spcPct val="110000"/>
              </a:lnSpc>
              <a:spcBef>
                <a:spcPts val="500"/>
              </a:spcBef>
              <a:buNone/>
            </a:pPr>
            <a:r>
              <a:rPr lang="en-US" sz="1400" i="1" dirty="0"/>
              <a:t>Conclusion: Smart discounting outperforms aggressive promotions.</a:t>
            </a:r>
          </a:p>
          <a:p>
            <a:pPr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400" b="1" dirty="0"/>
              <a:t>Channel Strategy (Online vs Retail)</a:t>
            </a:r>
          </a:p>
          <a:p>
            <a:pPr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Retail generates higher revenue realization</a:t>
            </a:r>
          </a:p>
          <a:p>
            <a:pPr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Online drives broader volume reach</a:t>
            </a:r>
          </a:p>
          <a:p>
            <a:pPr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Retail appears less discount-dependent</a:t>
            </a:r>
          </a:p>
          <a:p>
            <a:pPr marL="0" indent="0">
              <a:lnSpc>
                <a:spcPct val="110000"/>
              </a:lnSpc>
              <a:spcBef>
                <a:spcPts val="500"/>
              </a:spcBef>
              <a:buNone/>
            </a:pPr>
            <a:r>
              <a:rPr lang="en-US" sz="1400" i="1" dirty="0"/>
              <a:t>Retail = Margin Stabilizer</a:t>
            </a:r>
            <a:br>
              <a:rPr lang="en-US" sz="1400" i="1" dirty="0"/>
            </a:br>
            <a:r>
              <a:rPr lang="en-US" sz="1400" i="1" dirty="0"/>
              <a:t>Online = Growth Accelerator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400" b="1" dirty="0"/>
              <a:t>Category Strategy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Lifestyle &amp; Training show stable long-term growth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Gym &amp; Basketball display higher volatility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Category performance varies across countries</a:t>
            </a:r>
          </a:p>
          <a:p>
            <a:pPr marL="0" indent="0">
              <a:spcBef>
                <a:spcPts val="500"/>
              </a:spcBef>
              <a:buClr>
                <a:schemeClr val="bg1"/>
              </a:buClr>
              <a:buNone/>
            </a:pPr>
            <a:r>
              <a:rPr lang="en-US" sz="1400" i="1" dirty="0"/>
              <a:t>Categories act as either growth drivers or margin stabilizers.</a:t>
            </a:r>
            <a:endParaRPr lang="en-US" sz="1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E15D72-F4FE-A193-A746-E521737121ED}"/>
              </a:ext>
            </a:extLst>
          </p:cNvPr>
          <p:cNvSpPr txBox="1">
            <a:spLocks/>
          </p:cNvSpPr>
          <p:nvPr/>
        </p:nvSpPr>
        <p:spPr>
          <a:xfrm>
            <a:off x="5913056" y="2160397"/>
            <a:ext cx="5918963" cy="4632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400" b="1" dirty="0"/>
              <a:t>Consumer Segmentation: Income-Driven Purchasing Behavior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High-Income Resilience: This segment demonstrates the highest price realization across premium brands, specifically Nike, which is identified as the High-Income favorite brand.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Pricing Power Leadership: Nike serves as the "Pricing Power Leader," maintaining superior value capture even within the high-income demographic.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Middle &amp; Low-Income Sensitivity: These segments show lower price realization across most brands and share a preference for ASICS, the favorite brand for both Medium and Low-income consumers.</a:t>
            </a:r>
          </a:p>
          <a:p>
            <a:pPr marL="0" indent="0">
              <a:spcBef>
                <a:spcPts val="500"/>
              </a:spcBef>
              <a:buClr>
                <a:schemeClr val="bg1"/>
              </a:buClr>
              <a:buNone/>
            </a:pPr>
            <a:r>
              <a:rPr lang="en-US" sz="1400" b="1" dirty="0"/>
              <a:t>Dual Strategy Recommendation:</a:t>
            </a:r>
            <a:endParaRPr lang="en-US" sz="1400" dirty="0"/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Premium Positioning: Protect margins for Nike and Reebok by limiting discounts, as high-income realized prices remain elevated.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Smart Value for Middle-Income: Utilize the identified 11–20% "Sweet Spot" for ASICS to maintain volume without sacrificing the brand’s stability in the middle-income segment.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endParaRPr lang="en-US" sz="1400" i="1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E9D59E9-5FCD-F7A8-A588-E76CA5BC9C68}"/>
              </a:ext>
            </a:extLst>
          </p:cNvPr>
          <p:cNvSpPr txBox="1">
            <a:spLocks/>
          </p:cNvSpPr>
          <p:nvPr/>
        </p:nvSpPr>
        <p:spPr>
          <a:xfrm>
            <a:off x="5913056" y="667275"/>
            <a:ext cx="5918963" cy="1493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IN" sz="1400" b="1" dirty="0"/>
              <a:t>Geographic &amp; Income Segmentation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IN" sz="1400" dirty="0"/>
              <a:t>UAE exhibits strong premium demand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IN" sz="1400" dirty="0"/>
              <a:t>USA &amp; UK provide stable revenue base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IN" sz="1400" dirty="0"/>
              <a:t>High-income consumers sustain higher realized prices</a:t>
            </a:r>
          </a:p>
          <a:p>
            <a:pPr marL="0" indent="0">
              <a:spcBef>
                <a:spcPts val="500"/>
              </a:spcBef>
              <a:buFont typeface="Arial" panose="020B0604020202020204" pitchFamily="34" charset="0"/>
              <a:buNone/>
            </a:pPr>
            <a:r>
              <a:rPr lang="en-IN" sz="1400" i="1" dirty="0"/>
              <a:t>Premium strategy is market-specific, not universal.</a:t>
            </a:r>
          </a:p>
        </p:txBody>
      </p:sp>
    </p:spTree>
    <p:extLst>
      <p:ext uri="{BB962C8B-B14F-4D97-AF65-F5344CB8AC3E}">
        <p14:creationId xmlns:p14="http://schemas.microsoft.com/office/powerpoint/2010/main" val="4139522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7DB44-0EF4-8AF1-B204-8C82C809D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FF3C-7102-B0DA-633F-B7AEA0646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000" y="154507"/>
            <a:ext cx="9180000" cy="432000"/>
          </a:xfrm>
        </p:spPr>
        <p:txBody>
          <a:bodyPr>
            <a:noAutofit/>
          </a:bodyPr>
          <a:lstStyle/>
          <a:p>
            <a:r>
              <a:rPr lang="en-IN" sz="2400" b="1" dirty="0"/>
              <a:t>Strategic Framework Application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1D0C0A0-67BE-36C3-5112-97AE93DB377C}"/>
              </a:ext>
            </a:extLst>
          </p:cNvPr>
          <p:cNvSpPr txBox="1">
            <a:spLocks/>
          </p:cNvSpPr>
          <p:nvPr/>
        </p:nvSpPr>
        <p:spPr>
          <a:xfrm>
            <a:off x="366511" y="1169733"/>
            <a:ext cx="5729489" cy="3820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What is Porter's Generic Strategies?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Michael Porter identified 3 sustainable competitive strategies:</a:t>
            </a:r>
          </a:p>
          <a:p>
            <a:pPr>
              <a:buClr>
                <a:schemeClr val="bg1"/>
              </a:buClr>
              <a:buFont typeface="+mj-lt"/>
              <a:buAutoNum type="arabicPeriod"/>
            </a:pPr>
            <a:r>
              <a:rPr lang="en-US" sz="1600" b="1" dirty="0"/>
              <a:t>Cost Leadership:</a:t>
            </a:r>
            <a:r>
              <a:rPr lang="en-US" sz="1600" dirty="0"/>
              <a:t> Be the lowest cost producer in the industry while maintaining acceptable quality.</a:t>
            </a:r>
          </a:p>
          <a:p>
            <a:pPr>
              <a:buClr>
                <a:schemeClr val="bg1"/>
              </a:buClr>
              <a:buFont typeface="+mj-lt"/>
              <a:buAutoNum type="arabicPeriod"/>
            </a:pPr>
            <a:r>
              <a:rPr lang="en-US" sz="1600" b="1" dirty="0"/>
              <a:t>Differentiation:</a:t>
            </a:r>
            <a:r>
              <a:rPr lang="en-US" sz="1600" dirty="0"/>
              <a:t> Offer unique value that customers are willing to pay a premium for.</a:t>
            </a:r>
          </a:p>
          <a:p>
            <a:pPr>
              <a:buClr>
                <a:schemeClr val="bg1"/>
              </a:buClr>
              <a:buFont typeface="+mj-lt"/>
              <a:buAutoNum type="arabicPeriod"/>
            </a:pPr>
            <a:r>
              <a:rPr lang="en-US" sz="1600" b="1" dirty="0"/>
              <a:t>Focus:</a:t>
            </a:r>
            <a:r>
              <a:rPr lang="en-US" sz="1600" dirty="0"/>
              <a:t> Target a specific market niche with either cost or differentiation advantage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600" b="1" dirty="0"/>
              <a:t>Key Principle:</a:t>
            </a:r>
            <a:r>
              <a:rPr lang="en-US" sz="1600" dirty="0"/>
              <a:t> Companies must choose ONE clear strategy. Trying to pursue multiple strategies simultaneously leads to being "stuck in the middle" and results in underperformance.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1C04824-089D-11F6-8EAD-B276DA39EB1E}"/>
              </a:ext>
            </a:extLst>
          </p:cNvPr>
          <p:cNvSpPr txBox="1">
            <a:spLocks/>
          </p:cNvSpPr>
          <p:nvPr/>
        </p:nvSpPr>
        <p:spPr>
          <a:xfrm>
            <a:off x="366510" y="718100"/>
            <a:ext cx="7240237" cy="322369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Framework #1: Porter's Generic Strategies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8B56D-D52D-ED1E-791A-50DB3D80C148}"/>
              </a:ext>
            </a:extLst>
          </p:cNvPr>
          <p:cNvSpPr txBox="1"/>
          <p:nvPr/>
        </p:nvSpPr>
        <p:spPr>
          <a:xfrm>
            <a:off x="7606748" y="725395"/>
            <a:ext cx="40419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i="0" dirty="0">
                <a:effectLst/>
                <a:latin typeface="Poppins" panose="00000500000000000000" pitchFamily="2" charset="0"/>
              </a:rPr>
              <a:t>Understanding Competitive Strategy Types</a:t>
            </a:r>
            <a:endParaRPr lang="en-IN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7517C2-1D1D-A592-F669-C7D20C9B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72" t="14833" r="3762" b="7582"/>
          <a:stretch>
            <a:fillRect/>
          </a:stretch>
        </p:blipFill>
        <p:spPr>
          <a:xfrm>
            <a:off x="6096000" y="1162435"/>
            <a:ext cx="5729490" cy="382060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97B79BE-84B2-E63E-BBAB-ABD1DFBD9E2F}"/>
              </a:ext>
            </a:extLst>
          </p:cNvPr>
          <p:cNvSpPr txBox="1">
            <a:spLocks/>
          </p:cNvSpPr>
          <p:nvPr/>
        </p:nvSpPr>
        <p:spPr>
          <a:xfrm>
            <a:off x="366511" y="5117793"/>
            <a:ext cx="10319489" cy="732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Brands with clear positioning and pricing discipline (Nike, Adidas) sustain stronger margins and stability. Heavy discount reliance (Reebok) correlates with weaker competitive positioning.</a:t>
            </a:r>
          </a:p>
        </p:txBody>
      </p:sp>
    </p:spTree>
    <p:extLst>
      <p:ext uri="{BB962C8B-B14F-4D97-AF65-F5344CB8AC3E}">
        <p14:creationId xmlns:p14="http://schemas.microsoft.com/office/powerpoint/2010/main" val="4269079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BE781-74FD-A407-68D6-31FBB21FE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118DC-EFD1-5C51-8D0C-C4FA8C65A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000" y="154507"/>
            <a:ext cx="9180000" cy="432000"/>
          </a:xfrm>
        </p:spPr>
        <p:txBody>
          <a:bodyPr>
            <a:noAutofit/>
          </a:bodyPr>
          <a:lstStyle/>
          <a:p>
            <a:r>
              <a:rPr lang="en-IN" sz="2400" b="1" dirty="0"/>
              <a:t>Strategic Framework Application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5CB892D-1FBE-3EBE-2131-C6CC7828435E}"/>
              </a:ext>
            </a:extLst>
          </p:cNvPr>
          <p:cNvSpPr txBox="1">
            <a:spLocks/>
          </p:cNvSpPr>
          <p:nvPr/>
        </p:nvSpPr>
        <p:spPr>
          <a:xfrm>
            <a:off x="366511" y="1169733"/>
            <a:ext cx="5729489" cy="2259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500"/>
              </a:spcBef>
              <a:buNone/>
            </a:pPr>
            <a:r>
              <a:rPr lang="en-US" sz="1200" b="1" dirty="0"/>
              <a:t>What is STP Framework?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200" dirty="0"/>
              <a:t>STP is the foundation of modern marketing strategy: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b="1" dirty="0"/>
              <a:t>S = Segment:</a:t>
            </a:r>
            <a:r>
              <a:rPr lang="en-US" sz="1200" dirty="0"/>
              <a:t> Divide the total market into distinct groups with similar characteristics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b="1" dirty="0"/>
              <a:t>T = Target:</a:t>
            </a:r>
            <a:r>
              <a:rPr lang="en-US" sz="1200" dirty="0"/>
              <a:t> Evaluate segments and choose which ones to serve based on attractiveness and fit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b="1" dirty="0"/>
              <a:t>P = Position:</a:t>
            </a:r>
            <a:r>
              <a:rPr lang="en-US" sz="1200" dirty="0"/>
              <a:t> Create a unique value proposition that resonates with your target segments</a:t>
            </a:r>
          </a:p>
          <a:p>
            <a:pPr>
              <a:spcBef>
                <a:spcPts val="500"/>
              </a:spcBef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200" dirty="0"/>
              <a:t>Developed by Philip Kotler, STP ensures marketing resources are focused on the most valuable opportunities with clear differentiation.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D80A12-1A91-7696-E7F2-25B7E33AA4F8}"/>
              </a:ext>
            </a:extLst>
          </p:cNvPr>
          <p:cNvSpPr txBox="1">
            <a:spLocks/>
          </p:cNvSpPr>
          <p:nvPr/>
        </p:nvSpPr>
        <p:spPr>
          <a:xfrm>
            <a:off x="366511" y="718100"/>
            <a:ext cx="5729490" cy="322369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b="1" dirty="0"/>
              <a:t>Framework</a:t>
            </a:r>
            <a:r>
              <a:rPr lang="en-IN" sz="1800" b="1" dirty="0"/>
              <a:t> #2: STP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CD1C4-96A7-915F-4D64-2CF5B490CE02}"/>
              </a:ext>
            </a:extLst>
          </p:cNvPr>
          <p:cNvSpPr txBox="1"/>
          <p:nvPr/>
        </p:nvSpPr>
        <p:spPr>
          <a:xfrm>
            <a:off x="6217920" y="725395"/>
            <a:ext cx="3782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Segmentation → Targeting → Positioning Strategy</a:t>
            </a:r>
            <a:endParaRPr lang="en-IN" sz="11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1487AE8-6CD5-5109-7A1D-35B170EB8A16}"/>
              </a:ext>
            </a:extLst>
          </p:cNvPr>
          <p:cNvSpPr txBox="1">
            <a:spLocks/>
          </p:cNvSpPr>
          <p:nvPr/>
        </p:nvSpPr>
        <p:spPr>
          <a:xfrm>
            <a:off x="366511" y="3429000"/>
            <a:ext cx="5851409" cy="3274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bg1"/>
              </a:buClr>
              <a:buNone/>
            </a:pPr>
            <a:r>
              <a:rPr lang="en-US" sz="1200" b="1" dirty="0"/>
              <a:t>STP-Based Strategic Positioning (Data-Driven)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200" b="1" dirty="0"/>
              <a:t>Target Segment:</a:t>
            </a:r>
            <a:br>
              <a:rPr lang="en-US" sz="1200" dirty="0"/>
            </a:br>
            <a:r>
              <a:rPr lang="en-US" sz="1200" dirty="0"/>
              <a:t>High and Middle income consumers in USA and China markets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200" b="1" dirty="0"/>
              <a:t>Category Focus:</a:t>
            </a:r>
            <a:br>
              <a:rPr lang="en-US" sz="1200" dirty="0"/>
            </a:br>
            <a:r>
              <a:rPr lang="en-US" sz="1200" dirty="0"/>
              <a:t>Running and Training footwear (highest revenue &amp; pricing stability)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200" b="1" dirty="0"/>
              <a:t>Positioning Strategy:</a:t>
            </a:r>
            <a:br>
              <a:rPr lang="en-US" sz="1200" dirty="0"/>
            </a:br>
            <a:r>
              <a:rPr lang="en-US" sz="1200" dirty="0"/>
              <a:t>Premium performance footwear with disciplined value optimization (11–20% strategic-discount band maximizes revenue without margin erosion)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200" b="1" dirty="0"/>
              <a:t>Channel Priority:</a:t>
            </a:r>
            <a:br>
              <a:rPr lang="en-US" sz="1200" dirty="0"/>
            </a:br>
            <a:r>
              <a:rPr lang="en-US" sz="1200" dirty="0"/>
              <a:t>Online channel for premium conversion and higher average selling prices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200" b="1" dirty="0"/>
              <a:t>Strategic Rationale:</a:t>
            </a:r>
            <a:br>
              <a:rPr lang="en-US" sz="1200" dirty="0"/>
            </a:br>
            <a:r>
              <a:rPr lang="en-US" sz="1200" dirty="0"/>
              <a:t>Data shows stronger price realization, lower discount sensitivity, and higher revenue contribution within these segments.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AD6251-A335-96C5-4481-EDBABAF0FB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20" t="28246" r="3195" b="5133"/>
          <a:stretch>
            <a:fillRect/>
          </a:stretch>
        </p:blipFill>
        <p:spPr>
          <a:xfrm>
            <a:off x="6096000" y="1040469"/>
            <a:ext cx="5729490" cy="287838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6509DA-AED1-EECB-A8D2-23C8D9DC2797}"/>
              </a:ext>
            </a:extLst>
          </p:cNvPr>
          <p:cNvSpPr txBox="1">
            <a:spLocks/>
          </p:cNvSpPr>
          <p:nvPr/>
        </p:nvSpPr>
        <p:spPr>
          <a:xfrm>
            <a:off x="6217920" y="4055131"/>
            <a:ext cx="5729489" cy="2512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bg1"/>
              </a:buClr>
              <a:buNone/>
            </a:pPr>
            <a:r>
              <a:rPr lang="en-US" sz="1200" b="1" dirty="0"/>
              <a:t>Resource Allocation Recommendation: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sz="1200" i="1" dirty="0"/>
              <a:t>~70% investment focus toward: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High &amp; Middle income segments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USA &amp; China markets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Running &amp; Training categories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dirty="0"/>
              <a:t>Online channel expansion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200" dirty="0"/>
              <a:t>Based on revenue contribution, pricing power, and growth stability trends(2018-2026).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2651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2849D-C16A-7C76-E570-05A96100C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41767-2BEC-0C21-6F51-933826401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501" y="188710"/>
            <a:ext cx="5398009" cy="432000"/>
          </a:xfrm>
        </p:spPr>
        <p:txBody>
          <a:bodyPr>
            <a:noAutofit/>
          </a:bodyPr>
          <a:lstStyle/>
          <a:p>
            <a:r>
              <a:rPr lang="en-IN" sz="2400" b="1" dirty="0"/>
              <a:t>Executive Summary</a:t>
            </a:r>
            <a:endParaRPr lang="en-IN" sz="20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B938604-CFBF-C7BB-5816-D028AFFBC017}"/>
              </a:ext>
            </a:extLst>
          </p:cNvPr>
          <p:cNvSpPr txBox="1">
            <a:spLocks/>
          </p:cNvSpPr>
          <p:nvPr/>
        </p:nvSpPr>
        <p:spPr>
          <a:xfrm>
            <a:off x="366510" y="840925"/>
            <a:ext cx="5129937" cy="36000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dirty="0"/>
              <a:t>Pricing &amp; Profitability Optimization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600B0B-73CD-C8E5-4CA1-031BB6B26641}"/>
              </a:ext>
            </a:extLst>
          </p:cNvPr>
          <p:cNvSpPr txBox="1">
            <a:spLocks/>
          </p:cNvSpPr>
          <p:nvPr/>
        </p:nvSpPr>
        <p:spPr>
          <a:xfrm>
            <a:off x="6461578" y="1286738"/>
            <a:ext cx="5364841" cy="17547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b="1" dirty="0"/>
              <a:t>Retail as the Margin Anchor:</a:t>
            </a:r>
            <a:r>
              <a:rPr lang="en-US" sz="1200" dirty="0"/>
              <a:t> Direct investment toward </a:t>
            </a:r>
            <a:r>
              <a:rPr lang="en-US" sz="1200" b="1" dirty="0"/>
              <a:t>Retail Stores</a:t>
            </a:r>
            <a:r>
              <a:rPr lang="en-US" sz="1200" dirty="0"/>
              <a:t> (our best channel for margin) in the </a:t>
            </a:r>
            <a:r>
              <a:rPr lang="en-US" sz="1200" b="1" dirty="0"/>
              <a:t>UAE</a:t>
            </a:r>
            <a:r>
              <a:rPr lang="en-US" sz="1200" dirty="0"/>
              <a:t>—our highest-performing market with </a:t>
            </a:r>
            <a:r>
              <a:rPr lang="en-US" sz="1200" b="1" dirty="0"/>
              <a:t>~$1.55M in revenue</a:t>
            </a:r>
            <a:r>
              <a:rPr lang="en-US" sz="1200" dirty="0"/>
              <a:t>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b="1" dirty="0"/>
              <a:t>Balanced Digital Strategy:</a:t>
            </a:r>
            <a:r>
              <a:rPr lang="en-US" sz="1200" dirty="0"/>
              <a:t> While the Online and Retail channels are currently </a:t>
            </a:r>
            <a:r>
              <a:rPr lang="en-US" sz="1200" b="1" dirty="0"/>
              <a:t>equally split (~50/50)</a:t>
            </a:r>
            <a:r>
              <a:rPr lang="en-US" sz="1200" dirty="0"/>
              <a:t> in revenue, we will use Online to specifically target the </a:t>
            </a:r>
            <a:r>
              <a:rPr lang="en-US" sz="1200" b="1" dirty="0"/>
              <a:t>Women’s segment</a:t>
            </a:r>
            <a:r>
              <a:rPr lang="en-US" sz="1200" dirty="0"/>
              <a:t> (our #1 revenue driver at </a:t>
            </a:r>
            <a:r>
              <a:rPr lang="en-US" sz="1200" b="1" dirty="0"/>
              <a:t>$3.07M</a:t>
            </a:r>
            <a:r>
              <a:rPr lang="en-US" sz="1200" dirty="0"/>
              <a:t>).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b="1" dirty="0"/>
              <a:t>High-Income Monetization:</a:t>
            </a:r>
            <a:r>
              <a:rPr lang="en-US" sz="1200" dirty="0"/>
              <a:t> Optimize pricing for </a:t>
            </a:r>
            <a:r>
              <a:rPr lang="en-US" sz="1200" b="1" dirty="0"/>
              <a:t>Nike and Adidas</a:t>
            </a:r>
            <a:r>
              <a:rPr lang="en-US" sz="1200" dirty="0"/>
              <a:t> in Middle and High-income segments to realize higher average selling prices.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643E0F-04BF-6D8D-8485-76804DB91FEB}"/>
              </a:ext>
            </a:extLst>
          </p:cNvPr>
          <p:cNvSpPr txBox="1">
            <a:spLocks/>
          </p:cNvSpPr>
          <p:nvPr/>
        </p:nvSpPr>
        <p:spPr>
          <a:xfrm>
            <a:off x="365580" y="3040786"/>
            <a:ext cx="6048000" cy="36000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dirty="0"/>
              <a:t>Portfolio &amp; Category Realignment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753587-488B-2BB0-F9C9-A8658C011D0B}"/>
              </a:ext>
            </a:extLst>
          </p:cNvPr>
          <p:cNvCxnSpPr>
            <a:cxnSpLocks/>
          </p:cNvCxnSpPr>
          <p:nvPr/>
        </p:nvCxnSpPr>
        <p:spPr>
          <a:xfrm>
            <a:off x="6265533" y="1359751"/>
            <a:ext cx="0" cy="144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CF770CF-F8D5-CBB7-4196-EEE61534709C}"/>
              </a:ext>
            </a:extLst>
          </p:cNvPr>
          <p:cNvSpPr txBox="1">
            <a:spLocks/>
          </p:cNvSpPr>
          <p:nvPr/>
        </p:nvSpPr>
        <p:spPr>
          <a:xfrm>
            <a:off x="365580" y="3479564"/>
            <a:ext cx="5729481" cy="656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b="1" dirty="0"/>
              <a:t>Category Prioritization:</a:t>
            </a:r>
            <a:r>
              <a:rPr lang="en-US" sz="1200" dirty="0"/>
              <a:t> Reallocate </a:t>
            </a:r>
            <a:r>
              <a:rPr lang="en-US" sz="1200" b="1" dirty="0"/>
              <a:t>60% of R&amp;D and inventory</a:t>
            </a:r>
            <a:r>
              <a:rPr lang="en-US" sz="1200" dirty="0"/>
              <a:t> to the </a:t>
            </a:r>
            <a:r>
              <a:rPr lang="en-US" sz="1200" b="1" dirty="0"/>
              <a:t>Lifestyle and Training</a:t>
            </a:r>
            <a:r>
              <a:rPr lang="en-US" sz="1200" dirty="0"/>
              <a:t> categories, which demonstrate the most consistent revenue mix and satisfaction levels.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2326B66-7E19-8A7E-25DE-BDEB81ECAC27}"/>
              </a:ext>
            </a:extLst>
          </p:cNvPr>
          <p:cNvSpPr txBox="1">
            <a:spLocks/>
          </p:cNvSpPr>
          <p:nvPr/>
        </p:nvSpPr>
        <p:spPr>
          <a:xfrm>
            <a:off x="6461578" y="3479564"/>
            <a:ext cx="5364829" cy="656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b="1" dirty="0"/>
              <a:t>SKU Rationalization:</a:t>
            </a:r>
            <a:r>
              <a:rPr lang="en-US" sz="1200" dirty="0"/>
              <a:t> Downsize the </a:t>
            </a:r>
            <a:r>
              <a:rPr lang="en-US" sz="1200" b="1" dirty="0"/>
              <a:t>Unisex</a:t>
            </a:r>
            <a:r>
              <a:rPr lang="en-US" sz="1200" dirty="0"/>
              <a:t> line (currently the lowest-performing segment at </a:t>
            </a:r>
            <a:r>
              <a:rPr lang="en-US" sz="1200" b="1" dirty="0"/>
              <a:t>~$2.97M</a:t>
            </a:r>
            <a:r>
              <a:rPr lang="en-US" sz="1200" dirty="0"/>
              <a:t>) and reinvest that capital into the high-performing Men’s and Women’s product tiers.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2A2AB7-9862-FAFC-AB1E-AE3D9CEBDBB5}"/>
              </a:ext>
            </a:extLst>
          </p:cNvPr>
          <p:cNvCxnSpPr>
            <a:cxnSpLocks/>
          </p:cNvCxnSpPr>
          <p:nvPr/>
        </p:nvCxnSpPr>
        <p:spPr>
          <a:xfrm>
            <a:off x="6265531" y="3555885"/>
            <a:ext cx="0" cy="54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FEA812A0-D35A-ECEE-A6CA-96CE894EDF4C}"/>
              </a:ext>
            </a:extLst>
          </p:cNvPr>
          <p:cNvSpPr txBox="1">
            <a:spLocks/>
          </p:cNvSpPr>
          <p:nvPr/>
        </p:nvSpPr>
        <p:spPr>
          <a:xfrm>
            <a:off x="366510" y="4214978"/>
            <a:ext cx="4644000" cy="36000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dirty="0"/>
              <a:t>Strategic Justification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E19DB8D-99BE-7B59-52D7-5E88C819E659}"/>
              </a:ext>
            </a:extLst>
          </p:cNvPr>
          <p:cNvSpPr txBox="1">
            <a:spLocks/>
          </p:cNvSpPr>
          <p:nvPr/>
        </p:nvSpPr>
        <p:spPr>
          <a:xfrm>
            <a:off x="365580" y="4653757"/>
            <a:ext cx="5729480" cy="1331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b="1" dirty="0"/>
              <a:t>ASICS</a:t>
            </a:r>
            <a:r>
              <a:rPr lang="en-US" sz="1200" dirty="0"/>
              <a:t> serves as the </a:t>
            </a:r>
            <a:r>
              <a:rPr lang="en-US" sz="1200" b="1" dirty="0"/>
              <a:t>"Margin Protector"</a:t>
            </a:r>
            <a:r>
              <a:rPr lang="en-US" sz="1200" dirty="0"/>
              <a:t> due to its superior Pricing Power Index.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dirty="0"/>
              <a:t>The </a:t>
            </a:r>
            <a:r>
              <a:rPr lang="en-US" sz="1200" b="1" dirty="0"/>
              <a:t>UAE and UK</a:t>
            </a:r>
            <a:r>
              <a:rPr lang="en-US" sz="1200" dirty="0"/>
              <a:t> provide the highest ROI for physical retail expansion due to existing market strength.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sz="1200" b="1" dirty="0"/>
              <a:t>Outcome:</a:t>
            </a:r>
            <a:r>
              <a:rPr lang="en-US" sz="1200" dirty="0"/>
              <a:t> A projected </a:t>
            </a:r>
            <a:r>
              <a:rPr lang="en-US" sz="1200" b="1" dirty="0"/>
              <a:t>150–200 bps margin recovery</a:t>
            </a:r>
            <a:r>
              <a:rPr lang="en-US" sz="1200" dirty="0"/>
              <a:t> by stabilizing pricing and concentrating capital on high-satisfaction categories.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D765231-84A0-0543-47FF-527EBD497DD9}"/>
              </a:ext>
            </a:extLst>
          </p:cNvPr>
          <p:cNvSpPr txBox="1">
            <a:spLocks/>
          </p:cNvSpPr>
          <p:nvPr/>
        </p:nvSpPr>
        <p:spPr>
          <a:xfrm>
            <a:off x="5086350" y="5345829"/>
            <a:ext cx="5377553" cy="1201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v"/>
            </a:pPr>
            <a:endParaRPr lang="en-US" sz="160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81F80A6-EA43-6384-72B4-C5E0E56B9701}"/>
              </a:ext>
            </a:extLst>
          </p:cNvPr>
          <p:cNvSpPr txBox="1">
            <a:spLocks/>
          </p:cNvSpPr>
          <p:nvPr/>
        </p:nvSpPr>
        <p:spPr>
          <a:xfrm>
            <a:off x="6461579" y="4214978"/>
            <a:ext cx="4320000" cy="36000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dirty="0"/>
              <a:t>Risks &amp; Trade-offs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0412025-A885-2D58-14D4-089ABEC6BAD2}"/>
              </a:ext>
            </a:extLst>
          </p:cNvPr>
          <p:cNvSpPr txBox="1">
            <a:spLocks/>
          </p:cNvSpPr>
          <p:nvPr/>
        </p:nvSpPr>
        <p:spPr>
          <a:xfrm>
            <a:off x="6461579" y="4783934"/>
            <a:ext cx="5364836" cy="1201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b="1" dirty="0"/>
              <a:t>Volume Friction:</a:t>
            </a:r>
            <a:r>
              <a:rPr lang="en-US" sz="1200" dirty="0"/>
              <a:t> Reducing deep discounts may lead to a temporary softening in unit sales, which will be offset by higher quality-per-sale.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b="1" dirty="0"/>
              <a:t>Fixed Cost Exposure:</a:t>
            </a:r>
            <a:r>
              <a:rPr lang="en-US" sz="1200" dirty="0"/>
              <a:t> Retail expansion in the UAE increases upfront capital expenditure but secures long-term brand presence.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0560199-827B-E1C4-48E6-6C28C39CC4AF}"/>
              </a:ext>
            </a:extLst>
          </p:cNvPr>
          <p:cNvSpPr txBox="1">
            <a:spLocks/>
          </p:cNvSpPr>
          <p:nvPr/>
        </p:nvSpPr>
        <p:spPr>
          <a:xfrm>
            <a:off x="10846894" y="5458341"/>
            <a:ext cx="4719839" cy="1201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endParaRPr lang="en-US" sz="12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5658E8E-415C-C3F4-1D86-92C1E306DB90}"/>
              </a:ext>
            </a:extLst>
          </p:cNvPr>
          <p:cNvCxnSpPr>
            <a:cxnSpLocks/>
          </p:cNvCxnSpPr>
          <p:nvPr/>
        </p:nvCxnSpPr>
        <p:spPr>
          <a:xfrm>
            <a:off x="6265531" y="4811712"/>
            <a:ext cx="0" cy="1260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18922E4-F43A-4A2C-1BDF-2D657B9494BE}"/>
              </a:ext>
            </a:extLst>
          </p:cNvPr>
          <p:cNvSpPr txBox="1"/>
          <p:nvPr/>
        </p:nvSpPr>
        <p:spPr>
          <a:xfrm>
            <a:off x="6461578" y="248789"/>
            <a:ext cx="51824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Strategic Pivot: Shifting from Promotional Volume to Margin-Led Value </a:t>
            </a:r>
            <a:endParaRPr lang="en-IN" sz="1400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84101C47-9032-C90E-99E8-4E1E66B6726A}"/>
              </a:ext>
            </a:extLst>
          </p:cNvPr>
          <p:cNvSpPr txBox="1">
            <a:spLocks/>
          </p:cNvSpPr>
          <p:nvPr/>
        </p:nvSpPr>
        <p:spPr>
          <a:xfrm>
            <a:off x="6455222" y="842675"/>
            <a:ext cx="5129937" cy="36000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600" dirty="0"/>
              <a:t>Channel &amp; Geographic Discipline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82E5D0E3-B33F-CB3E-F7DF-E36EFCD888BF}"/>
              </a:ext>
            </a:extLst>
          </p:cNvPr>
          <p:cNvSpPr txBox="1">
            <a:spLocks/>
          </p:cNvSpPr>
          <p:nvPr/>
        </p:nvSpPr>
        <p:spPr>
          <a:xfrm>
            <a:off x="366509" y="1276638"/>
            <a:ext cx="5729480" cy="170311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b="1" dirty="0"/>
              <a:t>The "Pricing Power" Guardrail:</a:t>
            </a:r>
            <a:r>
              <a:rPr lang="en-US" sz="1200" dirty="0"/>
              <a:t> Maintain a strict </a:t>
            </a:r>
            <a:r>
              <a:rPr lang="en-US" sz="1200" b="1" dirty="0"/>
              <a:t>5% discount cap</a:t>
            </a:r>
            <a:r>
              <a:rPr lang="en-US" sz="1200" dirty="0"/>
              <a:t> for premium leaders like </a:t>
            </a:r>
            <a:r>
              <a:rPr lang="en-US" sz="1200" b="1" dirty="0"/>
              <a:t>ASICS</a:t>
            </a:r>
            <a:r>
              <a:rPr lang="en-US" sz="1200" dirty="0"/>
              <a:t> (our top-performing brand for High-Income segments) to preserve long-term pricing integrity.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b="1" dirty="0"/>
              <a:t>Targeted Volume Activation:</a:t>
            </a:r>
            <a:r>
              <a:rPr lang="en-US" sz="1200" dirty="0"/>
              <a:t> Standardize the </a:t>
            </a:r>
            <a:r>
              <a:rPr lang="en-US" sz="1200" b="1" dirty="0"/>
              <a:t>11–20% discount band</a:t>
            </a:r>
            <a:r>
              <a:rPr lang="en-US" sz="1200" dirty="0"/>
              <a:t> as the primary lever for seasonal demand. This range maximizes volume without the sharp satisfaction drops seen at higher discount tiers.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US" sz="1200" b="1" dirty="0"/>
              <a:t>Promotional De-escalation:</a:t>
            </a:r>
            <a:r>
              <a:rPr lang="en-US" sz="1200" dirty="0"/>
              <a:t> Phased reduction of </a:t>
            </a:r>
            <a:r>
              <a:rPr lang="en-US" sz="1200" b="1" dirty="0"/>
              <a:t>30%+ discounts</a:t>
            </a:r>
            <a:r>
              <a:rPr lang="en-US" sz="1200" dirty="0"/>
              <a:t>, which currently erode margins and correlate with weaker customer satisfaction scores.</a:t>
            </a:r>
          </a:p>
        </p:txBody>
      </p:sp>
    </p:spTree>
    <p:extLst>
      <p:ext uri="{BB962C8B-B14F-4D97-AF65-F5344CB8AC3E}">
        <p14:creationId xmlns:p14="http://schemas.microsoft.com/office/powerpoint/2010/main" val="1237545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4E47DF-8409-F510-E967-A83FEEBA0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693583"/>
            <a:ext cx="8991600" cy="1080000"/>
          </a:xfrm>
        </p:spPr>
        <p:txBody>
          <a:bodyPr>
            <a:normAutofit/>
          </a:bodyPr>
          <a:lstStyle/>
          <a:p>
            <a:r>
              <a:rPr lang="en-IN" sz="3200" dirty="0"/>
              <a:t>THANK 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319A5A-38CC-42D3-1266-3C2BA4F3B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002183"/>
            <a:ext cx="10934700" cy="474317"/>
          </a:xfrm>
        </p:spPr>
        <p:txBody>
          <a:bodyPr>
            <a:normAutofit/>
          </a:bodyPr>
          <a:lstStyle/>
          <a:p>
            <a:r>
              <a:rPr lang="en-US" sz="1600" dirty="0"/>
              <a:t>Our strategy is designed to move the business from a state of discount dependency to a future of sustainable, margin-led growth.</a:t>
            </a:r>
            <a:endParaRPr lang="en-IN" sz="1600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4BDBD73-741C-DD6D-821A-2400C26E37F7}"/>
              </a:ext>
            </a:extLst>
          </p:cNvPr>
          <p:cNvSpPr txBox="1">
            <a:spLocks/>
          </p:cNvSpPr>
          <p:nvPr/>
        </p:nvSpPr>
        <p:spPr>
          <a:xfrm>
            <a:off x="2176462" y="2705100"/>
            <a:ext cx="7415213" cy="474317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I appreciate the opportunity to present this strategic review for the 2026–2029 planning cycle.</a:t>
            </a:r>
            <a:endParaRPr lang="en-IN" sz="1400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F395414-D0CD-A320-610B-EFDCE1E27E5C}"/>
              </a:ext>
            </a:extLst>
          </p:cNvPr>
          <p:cNvSpPr txBox="1">
            <a:spLocks/>
          </p:cNvSpPr>
          <p:nvPr/>
        </p:nvSpPr>
        <p:spPr>
          <a:xfrm>
            <a:off x="2997993" y="3621435"/>
            <a:ext cx="1195388" cy="295276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/>
              <a:t>Team Name: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C9001D1-3615-1CBB-E184-FB314C3BBC87}"/>
              </a:ext>
            </a:extLst>
          </p:cNvPr>
          <p:cNvSpPr txBox="1">
            <a:spLocks/>
          </p:cNvSpPr>
          <p:nvPr/>
        </p:nvSpPr>
        <p:spPr>
          <a:xfrm>
            <a:off x="4155280" y="3621434"/>
            <a:ext cx="4017169" cy="1550641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/>
              <a:t>TheD</a:t>
            </a:r>
          </a:p>
          <a:p>
            <a:r>
              <a:rPr lang="en-IN" sz="1400" dirty="0"/>
              <a:t>Dhiren Walia</a:t>
            </a:r>
          </a:p>
          <a:p>
            <a:r>
              <a:rPr lang="en-IN" sz="1400" dirty="0"/>
              <a:t>1</a:t>
            </a:r>
            <a:r>
              <a:rPr lang="en-IN" sz="1400" baseline="30000" dirty="0"/>
              <a:t>st</a:t>
            </a:r>
            <a:r>
              <a:rPr lang="en-IN" sz="1400" dirty="0"/>
              <a:t> year, BBA-MBA Integrated Course</a:t>
            </a:r>
          </a:p>
          <a:p>
            <a:r>
              <a:rPr lang="en-IN" sz="1400" dirty="0"/>
              <a:t>National Forensic Sciences University, New Delhi.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4E2E882-9862-F3B0-64B4-8AA7417BCFF6}"/>
              </a:ext>
            </a:extLst>
          </p:cNvPr>
          <p:cNvSpPr txBox="1">
            <a:spLocks/>
          </p:cNvSpPr>
          <p:nvPr/>
        </p:nvSpPr>
        <p:spPr>
          <a:xfrm>
            <a:off x="2959891" y="3977726"/>
            <a:ext cx="1195388" cy="295277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/>
              <a:t>Presented by:</a:t>
            </a:r>
          </a:p>
        </p:txBody>
      </p:sp>
    </p:spTree>
    <p:extLst>
      <p:ext uri="{BB962C8B-B14F-4D97-AF65-F5344CB8AC3E}">
        <p14:creationId xmlns:p14="http://schemas.microsoft.com/office/powerpoint/2010/main" val="282669842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515</TotalTime>
  <Words>1309</Words>
  <Application>Microsoft Office PowerPoint</Application>
  <PresentationFormat>Widescreen</PresentationFormat>
  <Paragraphs>134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Gill Sans MT</vt:lpstr>
      <vt:lpstr>Poppins</vt:lpstr>
      <vt:lpstr>Wingdings</vt:lpstr>
      <vt:lpstr>Parcel</vt:lpstr>
      <vt:lpstr>Global Sports Footwear Market (2018–2026)</vt:lpstr>
      <vt:lpstr>Problem Framing &amp; Strategic Mandate</vt:lpstr>
      <vt:lpstr>Analytical Dashboard</vt:lpstr>
      <vt:lpstr>Core Insights Across Decision Areas</vt:lpstr>
      <vt:lpstr>Strategic Framework Application</vt:lpstr>
      <vt:lpstr>Strategic Framework Application</vt:lpstr>
      <vt:lpstr>Executive 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Krishan Walia</dc:creator>
  <cp:lastModifiedBy>Krishan Walia</cp:lastModifiedBy>
  <cp:revision>4</cp:revision>
  <dcterms:created xsi:type="dcterms:W3CDTF">2026-02-18T08:35:04Z</dcterms:created>
  <dcterms:modified xsi:type="dcterms:W3CDTF">2026-02-18T17:13:17Z</dcterms:modified>
</cp:coreProperties>
</file>